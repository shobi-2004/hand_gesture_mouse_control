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3"/>
  </p:notesMasterIdLst>
  <p:handoutMasterIdLst>
    <p:handoutMasterId r:id="rId24"/>
  </p:handoutMasterIdLst>
  <p:sldIdLst>
    <p:sldId id="256" r:id="rId5"/>
    <p:sldId id="262" r:id="rId6"/>
    <p:sldId id="276" r:id="rId7"/>
    <p:sldId id="263" r:id="rId8"/>
    <p:sldId id="264" r:id="rId9"/>
    <p:sldId id="265" r:id="rId10"/>
    <p:sldId id="266" r:id="rId11"/>
    <p:sldId id="267" r:id="rId12"/>
    <p:sldId id="268" r:id="rId13"/>
    <p:sldId id="269" r:id="rId14"/>
    <p:sldId id="271" r:id="rId15"/>
    <p:sldId id="270" r:id="rId16"/>
    <p:sldId id="272" r:id="rId17"/>
    <p:sldId id="273" r:id="rId18"/>
    <p:sldId id="274" r:id="rId19"/>
    <p:sldId id="278" r:id="rId20"/>
    <p:sldId id="275"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81" d="100"/>
          <a:sy n="81" d="100"/>
        </p:scale>
        <p:origin x="754" y="5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4/25/2025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4/25/2025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t>4/25/2025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4/25/2025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t>4/25/2025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t>4/25/2025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t>4/25/2025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t>4/25/2025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t>4/25/2025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t>4/25/2025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t>4/25/2025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4/25/2025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t>4/25/2025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t>4/25/2025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webp"/><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p:cNvPicPr>
            <a:picLocks noChangeAspect="1"/>
          </p:cNvPicPr>
          <p:nvPr/>
        </p:nvPicPr>
        <p:blipFill rotWithShape="1">
          <a:blip r:embed="rId3" cstate="screen"/>
          <a:srcRect l="13265" t="9091" r="3502" b="-1"/>
          <a:stretch>
            <a:fillRect/>
          </a:stretch>
        </p:blipFill>
        <p:spPr>
          <a:xfrm>
            <a:off x="-18025" y="94279"/>
            <a:ext cx="12191980" cy="6857990"/>
          </a:xfrm>
          <a:prstGeom prst="rect">
            <a:avLst/>
          </a:prstGeom>
        </p:spPr>
      </p:pic>
      <p:grpSp>
        <p:nvGrpSpPr>
          <p:cNvPr id="17" name="Group 16"/>
          <p:cNvGrpSpPr>
            <a:grpSpLocks noGrp="1" noUngrp="1" noRot="1" noChangeAspect="1" noMove="1" noResize="1"/>
          </p:cNvGrpSpPr>
          <p:nvPr/>
        </p:nvGrpSpPr>
        <p:grpSpPr>
          <a:xfrm>
            <a:off x="446534" y="453643"/>
            <a:ext cx="11298933" cy="98554"/>
            <a:chOff x="446534" y="453643"/>
            <a:chExt cx="11298933" cy="98554"/>
          </a:xfrm>
        </p:grpSpPr>
        <p:sp>
          <p:nvSpPr>
            <p:cNvPr id="18" name="Rectangle 17"/>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p:cNvSpPr>
            <a:spLocks noGrp="1" noRot="1" noChangeAspect="1" noMove="1" noResize="1" noEditPoints="1" noAdjustHandles="1" noChangeArrowheads="1" noChangeShapeType="1" noTextEdit="1"/>
          </p:cNvSpPr>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2960016"/>
            <a:ext cx="10993549" cy="2507228"/>
          </a:xfrm>
        </p:spPr>
        <p:txBody>
          <a:bodyPr>
            <a:noAutofit/>
          </a:bodyPr>
          <a:lstStyle/>
          <a:p>
            <a:r>
              <a:rPr lang="en-US">
                <a:solidFill>
                  <a:schemeClr val="bg1"/>
                </a:solidFill>
              </a:rPr>
              <a:t>          Hand gesture mouse controller</a:t>
            </a:r>
            <a:endParaRPr lang="en-US" dirty="0">
              <a:solidFill>
                <a:schemeClr val="bg1"/>
              </a:solidFill>
            </a:endParaRPr>
          </a:p>
        </p:txBody>
      </p:sp>
      <p:sp>
        <p:nvSpPr>
          <p:cNvPr id="3" name="Subtitle 2"/>
          <p:cNvSpPr>
            <a:spLocks noGrp="1"/>
          </p:cNvSpPr>
          <p:nvPr>
            <p:ph type="subTitle" idx="1"/>
          </p:nvPr>
        </p:nvSpPr>
        <p:spPr>
          <a:xfrm>
            <a:off x="581194" y="5467246"/>
            <a:ext cx="10993546" cy="484822"/>
          </a:xfrm>
        </p:spPr>
        <p:txBody>
          <a:bodyPr>
            <a:normAutofit/>
          </a:bodyPr>
          <a:lstStyle/>
          <a:p>
            <a:r>
              <a:rPr lang="en-US">
                <a:solidFill>
                  <a:srgbClr val="7CEBFF"/>
                </a:solidFill>
              </a:rPr>
              <a:t>                                        Using MEDIA PIPE , OPENCV AND TENSOR FLOW</a:t>
            </a:r>
            <a:endParaRPr lang="en-US" dirty="0">
              <a:solidFill>
                <a:srgbClr val="7CEBFF"/>
              </a:solidFill>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CONTENTS</a:t>
            </a:r>
          </a:p>
        </p:txBody>
      </p:sp>
      <p:sp>
        <p:nvSpPr>
          <p:cNvPr id="4" name="Rectangle 1"/>
          <p:cNvSpPr>
            <a:spLocks noGrp="1" noChangeArrowheads="1"/>
          </p:cNvSpPr>
          <p:nvPr>
            <p:ph idx="1"/>
          </p:nvPr>
        </p:nvSpPr>
        <p:spPr bwMode="auto">
          <a:xfrm>
            <a:off x="581025" y="2691596"/>
            <a:ext cx="425437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Bahnschrift SemiBold SemiCondensed" panose="020B0502040204020203" pitchFamily="34" charset="0"/>
              </a:rPr>
              <a:t>  Abstract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lang="en-US" altLang="en-US" sz="2400" dirty="0">
                <a:solidFill>
                  <a:schemeClr val="tx1"/>
                </a:solidFill>
                <a:latin typeface="Bahnschrift SemiBold SemiCondensed" panose="020B0502040204020203" pitchFamily="34" charset="0"/>
              </a:rPr>
              <a:t>  </a:t>
            </a:r>
            <a:r>
              <a:rPr kumimoji="0" lang="en-US" altLang="en-US" sz="2400" b="0" i="0" u="none" strike="noStrike" cap="none" normalizeH="0" baseline="0" dirty="0">
                <a:ln>
                  <a:noFill/>
                </a:ln>
                <a:solidFill>
                  <a:schemeClr val="tx1"/>
                </a:solidFill>
                <a:effectLst/>
                <a:latin typeface="Bahnschrift SemiBold SemiCondensed" panose="020B0502040204020203" pitchFamily="34" charset="0"/>
              </a:rPr>
              <a:t>Introduction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Bahnschrift SemiBold SemiCondensed" panose="020B0502040204020203" pitchFamily="34" charset="0"/>
              </a:rPr>
              <a:t>  Overview</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Bahnschrift SemiBold SemiCondensed" panose="020B0502040204020203" pitchFamily="34" charset="0"/>
              </a:rPr>
              <a:t>  Base Paper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Bahnschrift SemiBold SemiCondensed" panose="020B0502040204020203" pitchFamily="34" charset="0"/>
              </a:rPr>
              <a:t>  Problem Definition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Bahnschrift SemiBold SemiCondensed" panose="020B0502040204020203" pitchFamily="34" charset="0"/>
              </a:rPr>
              <a:t>  Overall Proposed Architecture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Bahnschrift SemiBold SemiCondensed" panose="020B0502040204020203" pitchFamily="34" charset="0"/>
              </a:rPr>
              <a:t>  Phase-wise Implementation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Bahnschrift SemiBold SemiCondensed" panose="020B0502040204020203" pitchFamily="34" charset="0"/>
              </a:rPr>
              <a:t>  Hand gesture output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lang="en-US" altLang="en-US" sz="2400" dirty="0">
                <a:solidFill>
                  <a:schemeClr val="tx1"/>
                </a:solidFill>
                <a:latin typeface="Bahnschrift SemiBold SemiCondensed" panose="020B0502040204020203" pitchFamily="34" charset="0"/>
              </a:rPr>
              <a:t>  </a:t>
            </a:r>
            <a:r>
              <a:rPr kumimoji="0" lang="en-US" altLang="en-US" sz="2400" b="0" i="0" u="none" strike="noStrike" cap="none" normalizeH="0" baseline="0" dirty="0">
                <a:ln>
                  <a:noFill/>
                </a:ln>
                <a:solidFill>
                  <a:schemeClr val="tx1"/>
                </a:solidFill>
                <a:effectLst/>
                <a:latin typeface="Bahnschrift SemiBold SemiCondensed" panose="020B0502040204020203" pitchFamily="34" charset="0"/>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Abstract</a:t>
            </a:r>
          </a:p>
        </p:txBody>
      </p:sp>
      <p:sp>
        <p:nvSpPr>
          <p:cNvPr id="3" name="Content Placeholder 2"/>
          <p:cNvSpPr>
            <a:spLocks noGrp="1"/>
          </p:cNvSpPr>
          <p:nvPr>
            <p:ph idx="1"/>
          </p:nvPr>
        </p:nvSpPr>
        <p:spPr/>
        <p:txBody>
          <a:bodyPr>
            <a:normAutofit/>
          </a:bodyPr>
          <a:lstStyle/>
          <a:p>
            <a:pPr marL="0" indent="0" algn="just">
              <a:lnSpc>
                <a:spcPct val="150000"/>
              </a:lnSpc>
              <a:buNone/>
            </a:pPr>
            <a:r>
              <a:rPr lang="en-US" sz="2400" dirty="0">
                <a:solidFill>
                  <a:schemeClr val="tx1"/>
                </a:solidFill>
                <a:latin typeface="Times New Roman" panose="02020603050405020304" pitchFamily="18" charset="0"/>
                <a:cs typeface="Times New Roman" panose="02020603050405020304" pitchFamily="18" charset="0"/>
              </a:rPr>
              <a:t>This project presents a real-time mouse control system based on hand gestures using OpenCV and </a:t>
            </a:r>
            <a:r>
              <a:rPr lang="en-US" sz="2400" dirty="0" err="1">
                <a:solidFill>
                  <a:schemeClr val="tx1"/>
                </a:solidFill>
                <a:latin typeface="Times New Roman" panose="02020603050405020304" pitchFamily="18" charset="0"/>
                <a:cs typeface="Times New Roman" panose="02020603050405020304" pitchFamily="18" charset="0"/>
              </a:rPr>
              <a:t>MediaPipe</a:t>
            </a:r>
            <a:r>
              <a:rPr lang="en-US" sz="2400" dirty="0">
                <a:solidFill>
                  <a:schemeClr val="tx1"/>
                </a:solidFill>
                <a:latin typeface="Times New Roman" panose="02020603050405020304" pitchFamily="18" charset="0"/>
                <a:cs typeface="Times New Roman" panose="02020603050405020304" pitchFamily="18" charset="0"/>
              </a:rPr>
              <a:t>. By detecting and interpreting hand landmarks through a webcam, the system enables users to perform standard mouse actions—such as cursor movement, clicks, and scrolling—without physical contact. It offers a cost-effective, user-friendly alternative to traditional input devices, with potential applications in assistive technology and touch-free interfaces.</a:t>
            </a:r>
            <a:endParaRPr lang="en-IN"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p>
        </p:txBody>
      </p:sp>
      <p:sp>
        <p:nvSpPr>
          <p:cNvPr id="4" name="Rectangle 1"/>
          <p:cNvSpPr>
            <a:spLocks noGrp="1" noChangeArrowheads="1"/>
          </p:cNvSpPr>
          <p:nvPr>
            <p:ph idx="1"/>
          </p:nvPr>
        </p:nvSpPr>
        <p:spPr bwMode="auto">
          <a:xfrm>
            <a:off x="581025" y="2298454"/>
            <a:ext cx="1102961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input devices like keyboards and mouse, while effective, can be limiting in hands-free or </a:t>
            </a:r>
            <a:r>
              <a:rPr lang="en-US" altLang="en-US" sz="2400" dirty="0">
                <a:solidFill>
                  <a:schemeClr val="tx1"/>
                </a:solidFill>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accessibility-focused environments.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 gestures provide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natural and intuitive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 for controlling computer systems.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utilizes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image processing and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hand tracking to build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gesture-based mouse control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aim is to develop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cost-effective, efficient, and user-friendly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solution that works using just a standard</a:t>
            </a:r>
            <a:r>
              <a:rPr lang="en-US" altLang="en-US" sz="2400" dirty="0">
                <a:solidFill>
                  <a:schemeClr val="tx1"/>
                </a:solidFill>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webcam.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OVERVIEW</a:t>
            </a:r>
          </a:p>
        </p:txBody>
      </p:sp>
      <p:sp>
        <p:nvSpPr>
          <p:cNvPr id="4" name="Rectangle 1"/>
          <p:cNvSpPr>
            <a:spLocks noGrp="1" noChangeArrowheads="1"/>
          </p:cNvSpPr>
          <p:nvPr>
            <p:ph idx="1"/>
          </p:nvPr>
        </p:nvSpPr>
        <p:spPr bwMode="auto">
          <a:xfrm>
            <a:off x="581192" y="1480494"/>
            <a:ext cx="1009475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introduces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contactless mouse control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responds to specific hand gestures</a:t>
            </a: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captured via a webcam.</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leverages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vision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Python libraries to detect and track hand landmarks </a:t>
            </a:r>
          </a:p>
          <a:p>
            <a:pPr marL="0" marR="0" lvl="0" indent="0" algn="l" defTabSz="914400" rtl="0" eaLnBrk="0" fontAlgn="base" latinLnBrk="0" hangingPunct="0">
              <a:lnSpc>
                <a:spcPct val="100000"/>
              </a:lnSpc>
              <a:spcBef>
                <a:spcPct val="0"/>
              </a:spcBef>
              <a:spcAft>
                <a:spcPct val="0"/>
              </a:spcAft>
              <a:buClrTx/>
              <a:buSzTx/>
              <a:buNone/>
            </a:pPr>
            <a:r>
              <a:rPr lang="en-US" altLang="en-US" dirty="0">
                <a:solidFill>
                  <a:schemeClr val="tx1"/>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real time.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maps gestures (like finger movements and positions) to standard mouse operations such as:</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Cursor movement</a:t>
            </a: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Left and right clicks</a:t>
            </a: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Drag and scroll actions</a:t>
            </a: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Technologies used include: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capturing and processing video frames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robust hand landmark detection</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BASE PAPER</a:t>
            </a:r>
          </a:p>
        </p:txBody>
      </p:sp>
      <p:sp>
        <p:nvSpPr>
          <p:cNvPr id="3" name="Content Placeholder 2"/>
          <p:cNvSpPr>
            <a:spLocks noGrp="1"/>
          </p:cNvSpPr>
          <p:nvPr>
            <p:ph idx="1"/>
          </p:nvPr>
        </p:nvSpPr>
        <p:spPr>
          <a:xfrm>
            <a:off x="581192" y="2180496"/>
            <a:ext cx="11029615" cy="4512535"/>
          </a:xfrm>
        </p:spPr>
        <p:txBody>
          <a:bodyPr>
            <a:normAutofit fontScale="77500" lnSpcReduction="20000"/>
          </a:bodyPr>
          <a:lstStyle/>
          <a:p>
            <a:pPr>
              <a:buNone/>
            </a:pPr>
            <a:r>
              <a:rPr lang="en-US" b="1" dirty="0">
                <a:latin typeface="Times New Roman" panose="02020603050405020304" pitchFamily="18" charset="0"/>
                <a:cs typeface="Times New Roman" panose="02020603050405020304" pitchFamily="18" charset="0"/>
              </a:rPr>
              <a:t>         </a:t>
            </a:r>
          </a:p>
          <a:p>
            <a:pPr>
              <a:buNone/>
            </a:pPr>
            <a:r>
              <a:rPr lang="en-US" sz="2100" b="1" dirty="0">
                <a:latin typeface="Times New Roman" panose="02020603050405020304" pitchFamily="18" charset="0"/>
                <a:cs typeface="Times New Roman" panose="02020603050405020304" pitchFamily="18" charset="0"/>
              </a:rPr>
              <a:t>Base Paper 1</a:t>
            </a:r>
          </a:p>
          <a:p>
            <a:pPr marL="0" indent="0">
              <a:buNone/>
            </a:pPr>
            <a:r>
              <a:rPr lang="en-US" sz="2100" b="1" dirty="0">
                <a:latin typeface="Times New Roman" panose="02020603050405020304" pitchFamily="18" charset="0"/>
                <a:cs typeface="Times New Roman" panose="02020603050405020304" pitchFamily="18" charset="0"/>
              </a:rPr>
              <a:t>Title:</a:t>
            </a:r>
            <a:r>
              <a:rPr lang="en-US" sz="2100" dirty="0">
                <a:latin typeface="Times New Roman" panose="02020603050405020304" pitchFamily="18" charset="0"/>
                <a:cs typeface="Times New Roman" panose="02020603050405020304" pitchFamily="18" charset="0"/>
              </a:rPr>
              <a:t> </a:t>
            </a:r>
            <a:r>
              <a:rPr lang="en-US" sz="2100" i="1" dirty="0">
                <a:latin typeface="Times New Roman" panose="02020603050405020304" pitchFamily="18" charset="0"/>
                <a:cs typeface="Times New Roman" panose="02020603050405020304" pitchFamily="18" charset="0"/>
              </a:rPr>
              <a:t>Hand Gesture Recognition Based on Computer Vision: A Review of Techniques</a:t>
            </a:r>
            <a:br>
              <a:rPr lang="en-US" sz="2100"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Authors:</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Jingdong</a:t>
            </a:r>
            <a:r>
              <a:rPr lang="en-US" sz="2100" dirty="0">
                <a:latin typeface="Times New Roman" panose="02020603050405020304" pitchFamily="18" charset="0"/>
                <a:cs typeface="Times New Roman" panose="02020603050405020304" pitchFamily="18" charset="0"/>
              </a:rPr>
              <a:t> Yang, Xiaoming Liu, et al.</a:t>
            </a:r>
            <a:br>
              <a:rPr lang="en-US" sz="2100"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Published in:</a:t>
            </a:r>
            <a:r>
              <a:rPr lang="en-US" sz="2100" dirty="0">
                <a:latin typeface="Times New Roman" panose="02020603050405020304" pitchFamily="18" charset="0"/>
                <a:cs typeface="Times New Roman" panose="02020603050405020304" pitchFamily="18" charset="0"/>
              </a:rPr>
              <a:t> </a:t>
            </a:r>
            <a:r>
              <a:rPr lang="en-US" sz="2100" i="1" dirty="0">
                <a:latin typeface="Times New Roman" panose="02020603050405020304" pitchFamily="18" charset="0"/>
                <a:cs typeface="Times New Roman" panose="02020603050405020304" pitchFamily="18" charset="0"/>
              </a:rPr>
              <a:t>IEEE Access, 2020</a:t>
            </a:r>
            <a:br>
              <a:rPr lang="en-US" sz="2100"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Summary:</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This review paper surveys various computer vision techniques for hand gesture recognition, including skin color segmentation, contour analysis, and motion tracking. It evaluates methods based on accuracy, computational efficiency, and suitability for real-time applications.</a:t>
            </a:r>
          </a:p>
          <a:p>
            <a:r>
              <a:rPr lang="en-US" sz="2100" b="1" dirty="0">
                <a:latin typeface="Times New Roman" panose="02020603050405020304" pitchFamily="18" charset="0"/>
                <a:cs typeface="Times New Roman" panose="02020603050405020304" pitchFamily="18" charset="0"/>
              </a:rPr>
              <a:t>BASE PAPER 2</a:t>
            </a:r>
          </a:p>
          <a:p>
            <a:pPr marL="0" indent="0">
              <a:buNone/>
            </a:pPr>
            <a:r>
              <a:rPr lang="en-US" sz="2100" b="1" dirty="0">
                <a:latin typeface="Times New Roman" panose="02020603050405020304" pitchFamily="18" charset="0"/>
                <a:cs typeface="Times New Roman" panose="02020603050405020304" pitchFamily="18" charset="0"/>
              </a:rPr>
              <a:t>Title:</a:t>
            </a:r>
            <a:r>
              <a:rPr lang="en-US" sz="2100" dirty="0">
                <a:latin typeface="Times New Roman" panose="02020603050405020304" pitchFamily="18" charset="0"/>
                <a:cs typeface="Times New Roman" panose="02020603050405020304" pitchFamily="18" charset="0"/>
              </a:rPr>
              <a:t> </a:t>
            </a:r>
            <a:r>
              <a:rPr lang="en-US" sz="2100" i="1" dirty="0">
                <a:latin typeface="Times New Roman" panose="02020603050405020304" pitchFamily="18" charset="0"/>
                <a:cs typeface="Times New Roman" panose="02020603050405020304" pitchFamily="18" charset="0"/>
              </a:rPr>
              <a:t>Real-time Hand Tracking with </a:t>
            </a:r>
            <a:r>
              <a:rPr lang="en-US" sz="2100" i="1" dirty="0" err="1">
                <a:latin typeface="Times New Roman" panose="02020603050405020304" pitchFamily="18" charset="0"/>
                <a:cs typeface="Times New Roman" panose="02020603050405020304" pitchFamily="18" charset="0"/>
              </a:rPr>
              <a:t>MediaPipe</a:t>
            </a:r>
            <a:br>
              <a:rPr lang="en-US" sz="2100"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Authors:</a:t>
            </a:r>
            <a:r>
              <a:rPr lang="en-US" sz="2100" dirty="0">
                <a:latin typeface="Times New Roman" panose="02020603050405020304" pitchFamily="18" charset="0"/>
                <a:cs typeface="Times New Roman" panose="02020603050405020304" pitchFamily="18" charset="0"/>
              </a:rPr>
              <a:t> Google Research Team</a:t>
            </a:r>
            <a:br>
              <a:rPr lang="en-US" sz="2100"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Published by:</a:t>
            </a:r>
            <a:r>
              <a:rPr lang="en-US" sz="2100" dirty="0">
                <a:latin typeface="Times New Roman" panose="02020603050405020304" pitchFamily="18" charset="0"/>
                <a:cs typeface="Times New Roman" panose="02020603050405020304" pitchFamily="18" charset="0"/>
              </a:rPr>
              <a:t> </a:t>
            </a:r>
            <a:r>
              <a:rPr lang="en-US" sz="2100" i="1" dirty="0">
                <a:latin typeface="Times New Roman" panose="02020603050405020304" pitchFamily="18" charset="0"/>
                <a:cs typeface="Times New Roman" panose="02020603050405020304" pitchFamily="18" charset="0"/>
              </a:rPr>
              <a:t>Google AI Blog, 2020</a:t>
            </a:r>
            <a:br>
              <a:rPr lang="en-US" sz="2100"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Summary:</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This official work introduces </a:t>
            </a:r>
            <a:r>
              <a:rPr lang="en-US" sz="2100" dirty="0" err="1">
                <a:latin typeface="Times New Roman" panose="02020603050405020304" pitchFamily="18" charset="0"/>
                <a:cs typeface="Times New Roman" panose="02020603050405020304" pitchFamily="18" charset="0"/>
              </a:rPr>
              <a:t>MediaPipe</a:t>
            </a:r>
            <a:r>
              <a:rPr lang="en-US" sz="2100" dirty="0">
                <a:latin typeface="Times New Roman" panose="02020603050405020304" pitchFamily="18" charset="0"/>
                <a:cs typeface="Times New Roman" panose="02020603050405020304" pitchFamily="18" charset="0"/>
              </a:rPr>
              <a:t> Hands, a framework that detects 21 3D landmarks of a hand in real time using a webcam.</a:t>
            </a:r>
            <a:br>
              <a:rPr lang="en-US" sz="2100"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Relevance to Your Project:</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Serves as the core technology in your system, offering high-accuracy hand tracking crucial for interpreting gestures and controlling mouse movements.</a:t>
            </a:r>
            <a:endParaRPr lang="en-IN" sz="21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DEFENITION</a:t>
            </a:r>
          </a:p>
        </p:txBody>
      </p:sp>
      <p:sp>
        <p:nvSpPr>
          <p:cNvPr id="4" name="Rectangle 1"/>
          <p:cNvSpPr>
            <a:spLocks noGrp="1" noChangeArrowheads="1"/>
          </p:cNvSpPr>
          <p:nvPr>
            <p:ph idx="1"/>
          </p:nvPr>
        </p:nvSpPr>
        <p:spPr bwMode="auto">
          <a:xfrm>
            <a:off x="581192" y="2125445"/>
            <a:ext cx="11096179"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mouse input devices are not suitable for:</a:t>
            </a:r>
          </a:p>
          <a:p>
            <a:pPr marR="0" lvl="0" algn="just" defTabSz="914400" rtl="0" eaLnBrk="0" fontAlgn="base" latinLnBrk="0" hangingPunct="0">
              <a:lnSpc>
                <a:spcPct val="150000"/>
              </a:lnSpc>
              <a:spcBef>
                <a:spcPct val="0"/>
              </a:spcBef>
              <a:spcAft>
                <a:spcPct val="0"/>
              </a:spcAft>
              <a:buClrTx/>
              <a:buSzTx/>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Hands-free interaction scenarios</a:t>
            </a:r>
          </a:p>
          <a:p>
            <a:pPr marR="0" lvl="0" algn="just" defTabSz="914400" rtl="0" eaLnBrk="0" fontAlgn="base" latinLnBrk="0" hangingPunct="0">
              <a:lnSpc>
                <a:spcPct val="150000"/>
              </a:lnSpc>
              <a:spcBef>
                <a:spcPct val="0"/>
              </a:spcBef>
              <a:spcAft>
                <a:spcPct val="0"/>
              </a:spcAft>
              <a:buClrTx/>
              <a:buSzTx/>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with physical disabilities</a:t>
            </a:r>
          </a:p>
          <a:p>
            <a:pPr marR="0" lvl="0" algn="just" defTabSz="914400" rtl="0" eaLnBrk="0" fontAlgn="base" latinLnBrk="0" hangingPunct="0">
              <a:lnSpc>
                <a:spcPct val="150000"/>
              </a:lnSpc>
              <a:spcBef>
                <a:spcPct val="0"/>
              </a:spcBef>
              <a:spcAft>
                <a:spcPct val="0"/>
              </a:spcAft>
              <a:buClrTx/>
              <a:buSzTx/>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Environments where touch-based interaction is inconvenient (e.g., public kiosks, medical settings)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gesture-based systems often suffer from:</a:t>
            </a:r>
          </a:p>
          <a:p>
            <a:pPr marR="0" lvl="0" algn="l" defTabSz="914400" rtl="0" eaLnBrk="0" fontAlgn="base" latinLnBrk="0" hangingPunct="0">
              <a:lnSpc>
                <a:spcPct val="150000"/>
              </a:lnSpc>
              <a:spcBef>
                <a:spcPct val="0"/>
              </a:spcBef>
              <a:spcAft>
                <a:spcPct val="0"/>
              </a:spcAft>
              <a:buClrTx/>
              <a:buSzTx/>
              <a:buFont typeface="Courier New" panose="02070309020205020404" pitchFamily="49" charset="0"/>
              <a:buChar char="o"/>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accuracy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gesture recognition</a:t>
            </a:r>
          </a:p>
          <a:p>
            <a:pPr marR="0" lvl="0" algn="l" defTabSz="914400" rtl="0" eaLnBrk="0" fontAlgn="base" latinLnBrk="0" hangingPunct="0">
              <a:lnSpc>
                <a:spcPct val="150000"/>
              </a:lnSpc>
              <a:spcBef>
                <a:spcPct val="0"/>
              </a:spcBef>
              <a:spcAft>
                <a:spcPct val="0"/>
              </a:spcAft>
              <a:buClrTx/>
              <a:buSzTx/>
              <a:buFont typeface="Courier New" panose="02070309020205020404" pitchFamily="49" charset="0"/>
              <a:buChar char="o"/>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hardware requirements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specialized sensors or gloves)</a:t>
            </a:r>
          </a:p>
          <a:p>
            <a:pPr marR="0" lvl="0" algn="l" defTabSz="914400" rtl="0" eaLnBrk="0" fontAlgn="base" latinLnBrk="0" hangingPunct="0">
              <a:lnSpc>
                <a:spcPct val="150000"/>
              </a:lnSpc>
              <a:spcBef>
                <a:spcPct val="0"/>
              </a:spcBef>
              <a:spcAft>
                <a:spcPct val="0"/>
              </a:spcAft>
              <a:buClrTx/>
              <a:buSzTx/>
              <a:buFont typeface="Courier New" panose="02070309020205020404" pitchFamily="49" charset="0"/>
              <a:buChar char="o"/>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Lag and poor real-time performance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need for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cost-effective, software-based 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allows accurate and real-time mouse </a:t>
            </a:r>
          </a:p>
          <a:p>
            <a:pPr marL="0" marR="0" lvl="0" indent="0" algn="l" defTabSz="914400" rtl="0" eaLnBrk="0" fontAlgn="base" latinLnBrk="0" hangingPunct="0">
              <a:lnSpc>
                <a:spcPct val="15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control using just a standard webcam.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ARCHITECTURE</a:t>
            </a:r>
          </a:p>
        </p:txBody>
      </p:sp>
      <p:sp>
        <p:nvSpPr>
          <p:cNvPr id="3" name="Content Placeholder 2"/>
          <p:cNvSpPr>
            <a:spLocks noGrp="1"/>
          </p:cNvSpPr>
          <p:nvPr>
            <p:ph idx="1"/>
          </p:nvPr>
        </p:nvSpPr>
        <p:spPr>
          <a:xfrm>
            <a:off x="-4367571" y="2292248"/>
            <a:ext cx="23414220" cy="6345250"/>
          </a:xfrm>
        </p:spPr>
        <p:txBody>
          <a:bodyPr/>
          <a:lstStyle/>
          <a:p>
            <a:pPr marL="0" indent="0">
              <a:buNone/>
            </a:pPr>
            <a:endParaRPr lang="en-IN" sz="1800" dirty="0"/>
          </a:p>
          <a:p>
            <a:endParaRPr lang="en-IN" dirty="0"/>
          </a:p>
        </p:txBody>
      </p:sp>
      <p:pic>
        <p:nvPicPr>
          <p:cNvPr id="6146" name="Picture 2" descr="Virtual Mouse Control Using Hand Gesture Recognition by IRJE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6280" y="1819910"/>
            <a:ext cx="7717790" cy="45916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FLOW CHART</a:t>
            </a:r>
          </a:p>
        </p:txBody>
      </p:sp>
      <p:pic>
        <p:nvPicPr>
          <p:cNvPr id="8222" name="Picture 3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91560" y="1948601"/>
            <a:ext cx="1971535" cy="446341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p:cNvPicPr>
            <a:picLocks noChangeAspect="1"/>
          </p:cNvPicPr>
          <p:nvPr/>
        </p:nvPicPr>
        <p:blipFill>
          <a:blip r:embed="rId3"/>
          <a:stretch>
            <a:fillRect/>
          </a:stretch>
        </p:blipFill>
        <p:spPr>
          <a:xfrm>
            <a:off x="1148082" y="3002771"/>
            <a:ext cx="1597479" cy="2139274"/>
          </a:xfrm>
          <a:prstGeom prst="rect">
            <a:avLst/>
          </a:prstGeom>
        </p:spPr>
      </p:pic>
      <p:pic>
        <p:nvPicPr>
          <p:cNvPr id="23" name="Picture 22"/>
          <p:cNvPicPr>
            <a:picLocks noChangeAspect="1"/>
          </p:cNvPicPr>
          <p:nvPr/>
        </p:nvPicPr>
        <p:blipFill>
          <a:blip r:embed="rId4"/>
          <a:stretch>
            <a:fillRect/>
          </a:stretch>
        </p:blipFill>
        <p:spPr>
          <a:xfrm>
            <a:off x="8363154" y="2578807"/>
            <a:ext cx="3077004" cy="27054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PHASE-WISE IMPLEMENTATION</a:t>
            </a:r>
          </a:p>
        </p:txBody>
      </p:sp>
      <p:sp>
        <p:nvSpPr>
          <p:cNvPr id="6" name="Rectangle 1"/>
          <p:cNvSpPr>
            <a:spLocks noGrp="1" noChangeArrowheads="1"/>
          </p:cNvSpPr>
          <p:nvPr>
            <p:ph idx="1"/>
          </p:nvPr>
        </p:nvSpPr>
        <p:spPr bwMode="auto">
          <a:xfrm>
            <a:off x="682792" y="2200789"/>
            <a:ext cx="831663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chemeClr val="tx1"/>
                </a:solidFill>
                <a:effectLst/>
                <a:latin typeface="Arial" panose="020B0604020202020204" pitchFamily="34" charset="0"/>
              </a:rPr>
              <a:t>Phase 1: Environment Setup</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Installed necessary tools: Python, OpenCV, and </a:t>
            </a:r>
            <a:r>
              <a:rPr kumimoji="0" lang="en-US" altLang="en-US" b="0" i="0" u="none" strike="noStrike" cap="none" normalizeH="0" baseline="0" dirty="0" err="1">
                <a:ln>
                  <a:noFill/>
                </a:ln>
                <a:solidFill>
                  <a:schemeClr val="tx1"/>
                </a:solidFill>
                <a:effectLst/>
                <a:latin typeface="Arial" panose="020B0604020202020204" pitchFamily="34" charset="0"/>
              </a:rPr>
              <a:t>MediaPipe</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Configured the development environment and tested webcam input.</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chemeClr val="tx1"/>
                </a:solidFill>
                <a:effectLst/>
                <a:latin typeface="Arial" panose="020B0604020202020204" pitchFamily="34" charset="0"/>
              </a:rPr>
              <a:t>Phase 2: Hand Detection and Tracking</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Integrated </a:t>
            </a:r>
            <a:r>
              <a:rPr kumimoji="0" lang="en-US" altLang="en-US" b="1" i="0" u="none" strike="noStrike" cap="none" normalizeH="0" baseline="0" dirty="0" err="1">
                <a:ln>
                  <a:noFill/>
                </a:ln>
                <a:solidFill>
                  <a:schemeClr val="tx1"/>
                </a:solidFill>
                <a:effectLst/>
                <a:latin typeface="Arial" panose="020B0604020202020204" pitchFamily="34" charset="0"/>
              </a:rPr>
              <a:t>MediaPipe</a:t>
            </a:r>
            <a:r>
              <a:rPr kumimoji="0" lang="en-US" altLang="en-US" b="1" i="0" u="none" strike="noStrike" cap="none" normalizeH="0" baseline="0" dirty="0">
                <a:ln>
                  <a:noFill/>
                </a:ln>
                <a:solidFill>
                  <a:schemeClr val="tx1"/>
                </a:solidFill>
                <a:effectLst/>
                <a:latin typeface="Arial" panose="020B0604020202020204" pitchFamily="34" charset="0"/>
              </a:rPr>
              <a:t> Hands</a:t>
            </a:r>
            <a:r>
              <a:rPr kumimoji="0" lang="en-US" altLang="en-US" b="0" i="0" u="none" strike="noStrike" cap="none" normalizeH="0" baseline="0" dirty="0">
                <a:ln>
                  <a:noFill/>
                </a:ln>
                <a:solidFill>
                  <a:schemeClr val="tx1"/>
                </a:solidFill>
                <a:effectLst/>
                <a:latin typeface="Arial" panose="020B0604020202020204" pitchFamily="34" charset="0"/>
              </a:rPr>
              <a:t> for detecting 21 hand landmarks.</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Verified consistent and real-time tracking of hand movements.</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chemeClr val="tx1"/>
                </a:solidFill>
                <a:effectLst/>
                <a:latin typeface="Arial" panose="020B0604020202020204" pitchFamily="34" charset="0"/>
              </a:rPr>
              <a:t>Phase 3: Gesture Mapping</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Mapped specific hand gestures to mouse functions such as:</a:t>
            </a: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Cursor movement using index finger</a:t>
            </a: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Clicks based on finger-touch combinations</a:t>
            </a: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Scrolling and double click gestures</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chemeClr val="tx1"/>
                </a:solidFill>
                <a:effectLst/>
                <a:latin typeface="Arial" panose="020B0604020202020204" pitchFamily="34" charset="0"/>
              </a:rPr>
              <a:t>Phase 4: Mouse Control Integration</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Used Python libraries like </a:t>
            </a:r>
            <a:r>
              <a:rPr kumimoji="0" lang="en-US" altLang="en-US" b="0" i="0" u="none" strike="noStrike" cap="none" normalizeH="0" baseline="0" dirty="0" err="1">
                <a:ln>
                  <a:noFill/>
                </a:ln>
                <a:solidFill>
                  <a:schemeClr val="tx1"/>
                </a:solidFill>
                <a:effectLst/>
                <a:latin typeface="Arial Unicode MS"/>
              </a:rPr>
              <a:t>pyautogui</a:t>
            </a:r>
            <a:r>
              <a:rPr kumimoji="0" lang="en-US" altLang="en-US" b="0" i="0" u="none" strike="noStrike" cap="none" normalizeH="0" baseline="0" dirty="0">
                <a:ln>
                  <a:noFill/>
                </a:ln>
                <a:solidFill>
                  <a:schemeClr val="tx1"/>
                </a:solidFill>
                <a:effectLst/>
              </a:rPr>
              <a:t> to convert gestures into actual mouse actions.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Calibrated cursor speed and click sensitivity.</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219" name="Picture 3" descr="Hand tracking Pyth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9678" y="2460308"/>
            <a:ext cx="2905125" cy="1571625"/>
          </a:xfrm>
          <a:prstGeom prst="rect">
            <a:avLst/>
          </a:prstGeom>
          <a:noFill/>
          <a:extLst>
            <a:ext uri="{909E8E84-426E-40DD-AFC4-6F175D3DCCD1}">
              <a14:hiddenFill xmlns:a14="http://schemas.microsoft.com/office/drawing/2010/main">
                <a:solidFill>
                  <a:srgbClr val="FFFFFF"/>
                </a:solidFill>
              </a14:hiddenFill>
            </a:ext>
          </a:extLst>
        </p:spPr>
      </p:pic>
      <p:pic>
        <p:nvPicPr>
          <p:cNvPr id="9221" name="Picture 5" descr="What is Python Coding? | Juni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0681" y="4111307"/>
            <a:ext cx="1650999" cy="16509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PHASE-WISE IMPLEMENTATION</a:t>
            </a:r>
          </a:p>
        </p:txBody>
      </p:sp>
      <p:sp>
        <p:nvSpPr>
          <p:cNvPr id="3" name="Content Placeholder 2"/>
          <p:cNvSpPr>
            <a:spLocks noGrp="1"/>
          </p:cNvSpPr>
          <p:nvPr>
            <p:ph idx="1"/>
          </p:nvPr>
        </p:nvSpPr>
        <p:spPr/>
        <p:txBody>
          <a:bodyPr/>
          <a:lstStyle/>
          <a:p>
            <a:pPr>
              <a:buNone/>
            </a:pPr>
            <a:r>
              <a:rPr lang="en-US" b="1" dirty="0">
                <a:latin typeface="Times New Roman" panose="02020603050405020304" pitchFamily="18" charset="0"/>
                <a:cs typeface="Times New Roman" panose="02020603050405020304" pitchFamily="18" charset="0"/>
              </a:rPr>
              <a:t>Phase 5: Optimization and Testing</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Fine-tuned gesture detection thresholds for better accuracy.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Conducted multiple tests to reduce lag and improve responsiveness.</a:t>
            </a:r>
          </a:p>
          <a:p>
            <a:pPr>
              <a:buNone/>
            </a:pPr>
            <a:r>
              <a:rPr lang="en-US" b="1" dirty="0">
                <a:latin typeface="Times New Roman" panose="02020603050405020304" pitchFamily="18" charset="0"/>
                <a:cs typeface="Times New Roman" panose="02020603050405020304" pitchFamily="18" charset="0"/>
              </a:rPr>
              <a:t>Phase 6: User Interface Feedback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visual indicators (e.g., colored circles) for gesture confirmation.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Improved user experience through intuitive gesture feedback.</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GESTURE-BASED MOUSE FUNCTIONS</a:t>
            </a:r>
          </a:p>
        </p:txBody>
      </p:sp>
      <p:pic>
        <p:nvPicPr>
          <p:cNvPr id="8" name="Content Placeholder 7"/>
          <p:cNvPicPr>
            <a:picLocks noGrp="1" noChangeAspect="1"/>
          </p:cNvPicPr>
          <p:nvPr>
            <p:ph idx="1"/>
          </p:nvPr>
        </p:nvPicPr>
        <p:blipFill>
          <a:blip r:embed="rId2"/>
          <a:stretch>
            <a:fillRect/>
          </a:stretch>
        </p:blipFill>
        <p:spPr>
          <a:xfrm>
            <a:off x="1072618" y="2525365"/>
            <a:ext cx="3077004" cy="2705478"/>
          </a:xfrm>
        </p:spPr>
      </p:pic>
      <p:sp>
        <p:nvSpPr>
          <p:cNvPr id="10" name="TextBox 9"/>
          <p:cNvSpPr txBox="1"/>
          <p:nvPr/>
        </p:nvSpPr>
        <p:spPr>
          <a:xfrm>
            <a:off x="4765040" y="3429000"/>
            <a:ext cx="6096000" cy="1476375"/>
          </a:xfrm>
          <a:prstGeom prst="rect">
            <a:avLst/>
          </a:prstGeom>
          <a:noFill/>
        </p:spPr>
        <p:txBody>
          <a:bodyPr wrap="square">
            <a:spAutoFit/>
          </a:bodyPr>
          <a:lstStyle/>
          <a:p>
            <a:pPr algn="l"/>
            <a:r>
              <a:rPr lang="en-US" b="1" i="0" dirty="0">
                <a:effectLst/>
                <a:latin typeface="Times New Roman" panose="02020603050405020304" pitchFamily="18" charset="0"/>
                <a:cs typeface="Times New Roman" panose="02020603050405020304" pitchFamily="18" charset="0"/>
              </a:rPr>
              <a:t>      Cursor Movement</a:t>
            </a:r>
            <a:r>
              <a:rPr lang="en-US" b="0" i="0" dirty="0">
                <a:effectLst/>
                <a:latin typeface="Times New Roman" panose="02020603050405020304" pitchFamily="18" charset="0"/>
                <a:cs typeface="Times New Roman" panose="02020603050405020304" pitchFamily="18" charset="0"/>
              </a:rPr>
              <a:t>:</a:t>
            </a:r>
          </a:p>
          <a:p>
            <a:pPr marL="742950" lvl="1" indent="-285750" algn="l">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Gesture</a:t>
            </a:r>
            <a:r>
              <a:rPr lang="en-US" b="0" i="0" dirty="0">
                <a:effectLst/>
                <a:latin typeface="Times New Roman" panose="02020603050405020304" pitchFamily="18" charset="0"/>
                <a:cs typeface="Times New Roman" panose="02020603050405020304" pitchFamily="18" charset="0"/>
              </a:rPr>
              <a:t>: Move the index finger.</a:t>
            </a:r>
          </a:p>
          <a:p>
            <a:pPr marL="742950" lvl="1" indent="-285750" algn="l">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Function</a:t>
            </a:r>
            <a:r>
              <a:rPr lang="en-US" b="0" i="0" dirty="0">
                <a:effectLst/>
                <a:latin typeface="Times New Roman" panose="02020603050405020304" pitchFamily="18" charset="0"/>
                <a:cs typeface="Times New Roman" panose="02020603050405020304" pitchFamily="18" charset="0"/>
              </a:rPr>
              <a:t>: Moves the mouse cursor based on the movement of the index finger.</a:t>
            </a:r>
          </a:p>
          <a:p>
            <a:pPr marL="742950" lvl="1" indent="-285750" algn="l">
              <a:buFont typeface="Wingdings" panose="05000000000000000000" pitchFamily="2" charset="2"/>
              <a:buChar char="Ø"/>
            </a:pPr>
            <a:r>
              <a:rPr lang="en-IN" altLang="en-US" b="1" i="0" dirty="0">
                <a:effectLst/>
                <a:latin typeface="Times New Roman" panose="02020603050405020304" pitchFamily="18" charset="0"/>
                <a:cs typeface="Times New Roman" panose="02020603050405020304" pitchFamily="18" charset="0"/>
              </a:rPr>
              <a:t>Color</a:t>
            </a:r>
            <a:r>
              <a:rPr lang="en-IN" altLang="en-US" b="0" i="0" dirty="0">
                <a:effectLst/>
                <a:latin typeface="Times New Roman" panose="02020603050405020304" pitchFamily="18" charset="0"/>
                <a:cs typeface="Times New Roman" panose="02020603050405020304" pitchFamily="18" charset="0"/>
              </a:rPr>
              <a:t>: blue color circle in index finger.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GESTURE-BASED MOUSE FUNCTIONS</a:t>
            </a:r>
          </a:p>
        </p:txBody>
      </p:sp>
      <p:pic>
        <p:nvPicPr>
          <p:cNvPr id="5" name="Content Placeholder 4"/>
          <p:cNvPicPr>
            <a:picLocks noGrp="1" noChangeAspect="1"/>
          </p:cNvPicPr>
          <p:nvPr>
            <p:ph idx="1"/>
          </p:nvPr>
        </p:nvPicPr>
        <p:blipFill>
          <a:blip r:embed="rId2"/>
          <a:stretch>
            <a:fillRect/>
          </a:stretch>
        </p:blipFill>
        <p:spPr>
          <a:xfrm>
            <a:off x="690880" y="2911676"/>
            <a:ext cx="4634885" cy="2650575"/>
          </a:xfrm>
        </p:spPr>
      </p:pic>
      <p:sp>
        <p:nvSpPr>
          <p:cNvPr id="7" name="TextBox 6"/>
          <p:cNvSpPr txBox="1"/>
          <p:nvPr/>
        </p:nvSpPr>
        <p:spPr>
          <a:xfrm>
            <a:off x="5405120" y="3577794"/>
            <a:ext cx="6096000" cy="1198880"/>
          </a:xfrm>
          <a:prstGeom prst="rect">
            <a:avLst/>
          </a:prstGeom>
          <a:noFill/>
        </p:spPr>
        <p:txBody>
          <a:bodyPr wrap="square">
            <a:spAutoFit/>
          </a:bodyPr>
          <a:lstStyle/>
          <a:p>
            <a:pPr algn="l"/>
            <a:r>
              <a:rPr lang="en-US" b="1" i="0" dirty="0">
                <a:effectLst/>
                <a:latin typeface="Times New Roman" panose="02020603050405020304" pitchFamily="18" charset="0"/>
                <a:cs typeface="Times New Roman" panose="02020603050405020304" pitchFamily="18" charset="0"/>
              </a:rPr>
              <a:t> Left Click</a:t>
            </a:r>
            <a:r>
              <a:rPr lang="en-US" b="0" i="0" dirty="0">
                <a:effectLst/>
                <a:latin typeface="Times New Roman" panose="02020603050405020304" pitchFamily="18" charset="0"/>
                <a:cs typeface="Times New Roman" panose="02020603050405020304" pitchFamily="18" charset="0"/>
              </a:rPr>
              <a:t>:</a:t>
            </a:r>
          </a:p>
          <a:p>
            <a:pPr marL="742950" lvl="1" indent="-285750" algn="l">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Gesture</a:t>
            </a:r>
            <a:r>
              <a:rPr lang="en-US" b="0" i="0" dirty="0">
                <a:effectLst/>
                <a:latin typeface="Times New Roman" panose="02020603050405020304" pitchFamily="18" charset="0"/>
                <a:cs typeface="Times New Roman" panose="02020603050405020304" pitchFamily="18" charset="0"/>
              </a:rPr>
              <a:t>: Touch the thumb and index finger together.</a:t>
            </a:r>
          </a:p>
          <a:p>
            <a:pPr marL="742950" lvl="1" indent="-285750" algn="l">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Function</a:t>
            </a:r>
            <a:r>
              <a:rPr lang="en-US" b="0" i="0" dirty="0">
                <a:effectLst/>
                <a:latin typeface="Times New Roman" panose="02020603050405020304" pitchFamily="18" charset="0"/>
                <a:cs typeface="Times New Roman" panose="02020603050405020304" pitchFamily="18" charset="0"/>
              </a:rPr>
              <a:t>: Performs a left mouse click.</a:t>
            </a:r>
          </a:p>
          <a:p>
            <a:pPr marL="742950" lvl="1" indent="-285750" algn="l">
              <a:buFont typeface="Wingdings" panose="05000000000000000000" pitchFamily="2" charset="2"/>
              <a:buChar char="Ø"/>
            </a:pPr>
            <a:r>
              <a:rPr lang="en-IN" altLang="en-US" b="0" i="0" dirty="0">
                <a:effectLst/>
                <a:latin typeface="Times New Roman" panose="02020603050405020304" pitchFamily="18" charset="0"/>
                <a:cs typeface="Times New Roman" panose="02020603050405020304" pitchFamily="18" charset="0"/>
              </a:rPr>
              <a:t> </a:t>
            </a:r>
            <a:r>
              <a:rPr lang="en-IN" altLang="en-US" b="1" i="0" dirty="0">
                <a:effectLst/>
                <a:latin typeface="Times New Roman" panose="02020603050405020304" pitchFamily="18" charset="0"/>
                <a:cs typeface="Times New Roman" panose="02020603050405020304" pitchFamily="18" charset="0"/>
              </a:rPr>
              <a:t>color</a:t>
            </a:r>
            <a:r>
              <a:rPr lang="en-IN" altLang="en-US" b="0" i="0" dirty="0">
                <a:effectLst/>
                <a:latin typeface="Times New Roman" panose="02020603050405020304" pitchFamily="18" charset="0"/>
                <a:cs typeface="Times New Roman" panose="02020603050405020304" pitchFamily="18" charset="0"/>
              </a:rPr>
              <a:t>: yellow with blue color circle in index</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GESTURE-BASED MOUSE FUNCTIONS</a:t>
            </a:r>
          </a:p>
        </p:txBody>
      </p:sp>
      <p:pic>
        <p:nvPicPr>
          <p:cNvPr id="5" name="Content Placeholder 4"/>
          <p:cNvPicPr>
            <a:picLocks noGrp="1" noChangeAspect="1"/>
          </p:cNvPicPr>
          <p:nvPr>
            <p:ph idx="1"/>
          </p:nvPr>
        </p:nvPicPr>
        <p:blipFill>
          <a:blip r:embed="rId2"/>
          <a:stretch>
            <a:fillRect/>
          </a:stretch>
        </p:blipFill>
        <p:spPr>
          <a:xfrm>
            <a:off x="810971" y="2473276"/>
            <a:ext cx="3458058" cy="2972215"/>
          </a:xfrm>
        </p:spPr>
      </p:pic>
      <p:sp>
        <p:nvSpPr>
          <p:cNvPr id="7" name="TextBox 6"/>
          <p:cNvSpPr txBox="1"/>
          <p:nvPr/>
        </p:nvSpPr>
        <p:spPr>
          <a:xfrm>
            <a:off x="4561840" y="3359218"/>
            <a:ext cx="6096000" cy="1198880"/>
          </a:xfrm>
          <a:prstGeom prst="rect">
            <a:avLst/>
          </a:prstGeom>
          <a:noFill/>
        </p:spPr>
        <p:txBody>
          <a:bodyPr wrap="square">
            <a:spAutoFit/>
          </a:bodyPr>
          <a:lstStyle/>
          <a:p>
            <a:pPr algn="l"/>
            <a:r>
              <a:rPr lang="en-US" b="1" i="0" dirty="0">
                <a:effectLst/>
                <a:latin typeface="Times New Roman" panose="02020603050405020304" pitchFamily="18" charset="0"/>
                <a:cs typeface="Times New Roman" panose="02020603050405020304" pitchFamily="18" charset="0"/>
              </a:rPr>
              <a:t> Right Click</a:t>
            </a:r>
            <a:r>
              <a:rPr lang="en-US" b="0" i="0" dirty="0">
                <a:effectLst/>
                <a:latin typeface="Times New Roman" panose="02020603050405020304" pitchFamily="18" charset="0"/>
                <a:cs typeface="Times New Roman" panose="02020603050405020304" pitchFamily="18" charset="0"/>
              </a:rPr>
              <a:t>:</a:t>
            </a:r>
          </a:p>
          <a:p>
            <a:pPr marL="742950" lvl="1" indent="-285750" algn="l">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Gesture</a:t>
            </a:r>
            <a:r>
              <a:rPr lang="en-US" b="0" i="0" dirty="0">
                <a:effectLst/>
                <a:latin typeface="Times New Roman" panose="02020603050405020304" pitchFamily="18" charset="0"/>
                <a:cs typeface="Times New Roman" panose="02020603050405020304" pitchFamily="18" charset="0"/>
              </a:rPr>
              <a:t>: Touch the index and middle fingers together.</a:t>
            </a:r>
          </a:p>
          <a:p>
            <a:pPr marL="742950" lvl="1" indent="-285750" algn="l">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Function</a:t>
            </a:r>
            <a:r>
              <a:rPr lang="en-US" b="0" i="0" dirty="0">
                <a:effectLst/>
                <a:latin typeface="Times New Roman" panose="02020603050405020304" pitchFamily="18" charset="0"/>
                <a:cs typeface="Times New Roman" panose="02020603050405020304" pitchFamily="18" charset="0"/>
              </a:rPr>
              <a:t>: Performs a right mouse click.</a:t>
            </a:r>
          </a:p>
          <a:p>
            <a:pPr marL="742950" lvl="1" indent="-285750" algn="l">
              <a:buFont typeface="Wingdings" panose="05000000000000000000" pitchFamily="2" charset="2"/>
              <a:buChar char="Ø"/>
            </a:pPr>
            <a:r>
              <a:rPr lang="en-IN" altLang="en-US" b="1" i="0" dirty="0">
                <a:effectLst/>
                <a:latin typeface="Times New Roman" panose="02020603050405020304" pitchFamily="18" charset="0"/>
                <a:cs typeface="Times New Roman" panose="02020603050405020304" pitchFamily="18" charset="0"/>
              </a:rPr>
              <a:t>color: </a:t>
            </a:r>
            <a:r>
              <a:rPr lang="en-IN" altLang="en-US" i="0" dirty="0">
                <a:effectLst/>
                <a:latin typeface="Times New Roman" panose="02020603050405020304" pitchFamily="18" charset="0"/>
                <a:cs typeface="Times New Roman" panose="02020603050405020304" pitchFamily="18" charset="0"/>
              </a:rPr>
              <a:t>Red color circle in index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GESTURE-BASED MOUSE FUNCTIONS</a:t>
            </a:r>
          </a:p>
        </p:txBody>
      </p:sp>
      <p:pic>
        <p:nvPicPr>
          <p:cNvPr id="5" name="Content Placeholder 4"/>
          <p:cNvPicPr>
            <a:picLocks noGrp="1" noChangeAspect="1"/>
          </p:cNvPicPr>
          <p:nvPr>
            <p:ph idx="1"/>
          </p:nvPr>
        </p:nvPicPr>
        <p:blipFill>
          <a:blip r:embed="rId2"/>
          <a:stretch>
            <a:fillRect/>
          </a:stretch>
        </p:blipFill>
        <p:spPr>
          <a:xfrm>
            <a:off x="957362" y="2528534"/>
            <a:ext cx="3606442" cy="3034689"/>
          </a:xfrm>
        </p:spPr>
      </p:pic>
      <p:sp>
        <p:nvSpPr>
          <p:cNvPr id="7" name="TextBox 6"/>
          <p:cNvSpPr txBox="1"/>
          <p:nvPr/>
        </p:nvSpPr>
        <p:spPr>
          <a:xfrm>
            <a:off x="4937760" y="2839400"/>
            <a:ext cx="6096000" cy="2723823"/>
          </a:xfrm>
          <a:prstGeom prst="rect">
            <a:avLst/>
          </a:prstGeom>
          <a:noFill/>
        </p:spPr>
        <p:txBody>
          <a:bodyPr wrap="square">
            <a:spAutoFit/>
          </a:bodyPr>
          <a:lstStyle/>
          <a:p>
            <a:pPr algn="l"/>
            <a:r>
              <a:rPr lang="en-US" b="1" i="0" dirty="0">
                <a:effectLst/>
                <a:latin typeface="Times New Roman" panose="02020603050405020304" pitchFamily="18" charset="0"/>
                <a:cs typeface="Times New Roman" panose="02020603050405020304" pitchFamily="18" charset="0"/>
              </a:rPr>
              <a:t>Scroll Down</a:t>
            </a:r>
            <a:r>
              <a:rPr lang="en-US" b="0" i="0" dirty="0">
                <a:effectLst/>
                <a:latin typeface="Times New Roman" panose="02020603050405020304" pitchFamily="18" charset="0"/>
                <a:cs typeface="Times New Roman" panose="02020603050405020304" pitchFamily="18" charset="0"/>
              </a:rPr>
              <a:t>:</a:t>
            </a:r>
          </a:p>
          <a:p>
            <a:pPr marL="742950" lvl="1" indent="-285750" algn="l">
              <a:lnSpc>
                <a:spcPct val="150000"/>
              </a:lnSpc>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Gesture</a:t>
            </a:r>
            <a:r>
              <a:rPr lang="en-US" b="0" i="0" dirty="0">
                <a:effectLst/>
                <a:latin typeface="Times New Roman" panose="02020603050405020304" pitchFamily="18" charset="0"/>
                <a:cs typeface="Times New Roman" panose="02020603050405020304" pitchFamily="18" charset="0"/>
              </a:rPr>
              <a:t>: Raise the last three fingers (middle, ring, and pinky).</a:t>
            </a:r>
          </a:p>
          <a:p>
            <a:pPr marL="742950" lvl="1" indent="-285750" algn="l">
              <a:lnSpc>
                <a:spcPct val="150000"/>
              </a:lnSpc>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Function</a:t>
            </a:r>
            <a:r>
              <a:rPr lang="en-US" b="0" i="0" dirty="0">
                <a:effectLst/>
                <a:latin typeface="Times New Roman" panose="02020603050405020304" pitchFamily="18" charset="0"/>
                <a:cs typeface="Times New Roman" panose="02020603050405020304" pitchFamily="18" charset="0"/>
              </a:rPr>
              <a:t>: Scrolls the webpage or document down.</a:t>
            </a:r>
          </a:p>
          <a:p>
            <a:pPr marL="742950" lvl="1" indent="-285750" algn="l">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Color indicator </a:t>
            </a:r>
            <a:r>
              <a:rPr lang="en-US" dirty="0">
                <a:latin typeface="Times New Roman" panose="02020603050405020304" pitchFamily="18" charset="0"/>
                <a:cs typeface="Times New Roman" panose="02020603050405020304" pitchFamily="18" charset="0"/>
              </a:rPr>
              <a:t>:</a:t>
            </a:r>
            <a:r>
              <a:rPr lang="en-US" b="0" i="0" dirty="0">
                <a:effectLst/>
                <a:latin typeface="Times New Roman" panose="02020603050405020304" pitchFamily="18" charset="0"/>
                <a:cs typeface="Times New Roman" panose="02020603050405020304" pitchFamily="18" charset="0"/>
              </a:rPr>
              <a:t> An orange circle appears on the middle finger as a visual indicator.</a:t>
            </a:r>
          </a:p>
          <a:p>
            <a:pPr algn="l">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0C88-D61F-E4A6-27C8-868206146A74}"/>
              </a:ext>
            </a:extLst>
          </p:cNvPr>
          <p:cNvSpPr>
            <a:spLocks noGrp="1"/>
          </p:cNvSpPr>
          <p:nvPr>
            <p:ph type="title"/>
          </p:nvPr>
        </p:nvSpPr>
        <p:spPr/>
        <p:txBody>
          <a:bodyPr/>
          <a:lstStyle/>
          <a:p>
            <a:endParaRPr lang="en-IN"/>
          </a:p>
        </p:txBody>
      </p:sp>
      <p:pic>
        <p:nvPicPr>
          <p:cNvPr id="4" name="Content Placeholder 3" descr="Screenshot 2025-04-24 015343"/>
          <p:cNvPicPr>
            <a:picLocks noGrp="1" noChangeAspect="1"/>
          </p:cNvPicPr>
          <p:nvPr>
            <p:ph idx="1"/>
          </p:nvPr>
        </p:nvPicPr>
        <p:blipFill>
          <a:blip r:embed="rId2"/>
          <a:stretch>
            <a:fillRect/>
          </a:stretch>
        </p:blipFill>
        <p:spPr>
          <a:xfrm>
            <a:off x="843237" y="2338165"/>
            <a:ext cx="3096057" cy="2610214"/>
          </a:xfrm>
          <a:prstGeom prst="rect">
            <a:avLst/>
          </a:prstGeom>
        </p:spPr>
      </p:pic>
      <p:sp>
        <p:nvSpPr>
          <p:cNvPr id="6" name="TextBox 5">
            <a:extLst>
              <a:ext uri="{FF2B5EF4-FFF2-40B4-BE49-F238E27FC236}">
                <a16:creationId xmlns:a16="http://schemas.microsoft.com/office/drawing/2014/main" id="{B8385240-A535-64E6-7385-232D9071B0CC}"/>
              </a:ext>
            </a:extLst>
          </p:cNvPr>
          <p:cNvSpPr txBox="1"/>
          <p:nvPr/>
        </p:nvSpPr>
        <p:spPr>
          <a:xfrm>
            <a:off x="4687478" y="3003776"/>
            <a:ext cx="6094428" cy="1754326"/>
          </a:xfrm>
          <a:prstGeom prst="rect">
            <a:avLst/>
          </a:prstGeom>
          <a:noFill/>
        </p:spPr>
        <p:txBody>
          <a:bodyPr wrap="square">
            <a:spAutoFit/>
          </a:bodyPr>
          <a:lstStyle/>
          <a:p>
            <a:pPr algn="l"/>
            <a:r>
              <a:rPr lang="en-US" b="1" i="0" dirty="0">
                <a:effectLst/>
                <a:latin typeface="Times New Roman" panose="02020603050405020304" pitchFamily="18" charset="0"/>
                <a:cs typeface="Times New Roman" panose="02020603050405020304" pitchFamily="18" charset="0"/>
              </a:rPr>
              <a:t>Scroll Up</a:t>
            </a:r>
            <a:r>
              <a:rPr lang="en-US" b="0" i="0" dirty="0">
                <a:effectLst/>
                <a:latin typeface="Times New Roman" panose="02020603050405020304" pitchFamily="18" charset="0"/>
                <a:cs typeface="Times New Roman" panose="02020603050405020304" pitchFamily="18" charset="0"/>
              </a:rPr>
              <a:t>:</a:t>
            </a:r>
          </a:p>
          <a:p>
            <a:pPr marL="742950" lvl="1" indent="-285750" algn="l">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Gesture</a:t>
            </a:r>
            <a:r>
              <a:rPr lang="en-US" b="0" i="0" dirty="0">
                <a:effectLst/>
                <a:latin typeface="Times New Roman" panose="02020603050405020304" pitchFamily="18" charset="0"/>
                <a:cs typeface="Times New Roman" panose="02020603050405020304" pitchFamily="18" charset="0"/>
              </a:rPr>
              <a:t>: Raise the last two fingers (ring and pinky).</a:t>
            </a:r>
          </a:p>
          <a:p>
            <a:pPr marL="742950" lvl="1" indent="-285750" algn="l">
              <a:buFont typeface="Wingdings" panose="05000000000000000000" pitchFamily="2" charset="2"/>
              <a:buChar char="Ø"/>
            </a:pPr>
            <a:r>
              <a:rPr lang="en-US" b="1" i="0" dirty="0">
                <a:effectLst/>
                <a:latin typeface="Times New Roman" panose="02020603050405020304" pitchFamily="18" charset="0"/>
                <a:cs typeface="Times New Roman" panose="02020603050405020304" pitchFamily="18" charset="0"/>
              </a:rPr>
              <a:t>Function</a:t>
            </a:r>
            <a:r>
              <a:rPr lang="en-US" b="0" i="0" dirty="0">
                <a:effectLst/>
                <a:latin typeface="Times New Roman" panose="02020603050405020304" pitchFamily="18" charset="0"/>
                <a:cs typeface="Times New Roman" panose="02020603050405020304" pitchFamily="18" charset="0"/>
              </a:rPr>
              <a:t>: Scrolls the webpage or document up. A purple circle appears on the ring finger as a visual indicator.</a:t>
            </a:r>
          </a:p>
          <a:p>
            <a:pPr marL="742950" lvl="1" indent="-285750" algn="l">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Color: </a:t>
            </a:r>
            <a:r>
              <a:rPr lang="en-US" dirty="0">
                <a:latin typeface="Times New Roman" panose="02020603050405020304" pitchFamily="18" charset="0"/>
                <a:cs typeface="Times New Roman" panose="02020603050405020304" pitchFamily="18" charset="0"/>
              </a:rPr>
              <a:t>Purple circle in </a:t>
            </a:r>
            <a:r>
              <a:rPr lang="en-US">
                <a:latin typeface="Times New Roman" panose="02020603050405020304" pitchFamily="18" charset="0"/>
                <a:cs typeface="Times New Roman" panose="02020603050405020304" pitchFamily="18" charset="0"/>
              </a:rPr>
              <a:t>ring finger</a:t>
            </a:r>
            <a:endParaRPr lang="en-US" b="1"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4101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112" y="580236"/>
            <a:ext cx="11029616" cy="1013800"/>
          </a:xfrm>
        </p:spPr>
        <p:txBody>
          <a:bodyPr/>
          <a:lstStyle/>
          <a:p>
            <a:r>
              <a:rPr lang="en-IN" dirty="0"/>
              <a:t>CONCLUTION</a:t>
            </a:r>
          </a:p>
        </p:txBody>
      </p:sp>
      <p:sp>
        <p:nvSpPr>
          <p:cNvPr id="4" name="Rectangle 1"/>
          <p:cNvSpPr>
            <a:spLocks noGrp="1" noChangeArrowheads="1"/>
          </p:cNvSpPr>
          <p:nvPr>
            <p:ph idx="1"/>
          </p:nvPr>
        </p:nvSpPr>
        <p:spPr bwMode="auto">
          <a:xfrm>
            <a:off x="645160" y="1829444"/>
            <a:ext cx="10901679"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successfully demonstrates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contactless mouse control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hand gestures, powered by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Cost-effective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requiring only a standard webcam</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intuitive gesture controls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and responsive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delivering smooth interaction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primary mouse functions — including cursor movement, left/right clicks, double clicks, and scrolling — were effectively implemented through distinct gestures.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results indicate high potential for applications in: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Assistive technologies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Touch-free interfaces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While the current system performs well under controlled lighting,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98320" y="1312842"/>
            <a:ext cx="8290560" cy="466044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92209EB-3212-4116-B574-D1F56C7C4922}">
  <ds:schemaRefs/>
</ds:datastoreItem>
</file>

<file path=customXml/itemProps2.xml><?xml version="1.0" encoding="utf-8"?>
<ds:datastoreItem xmlns:ds="http://schemas.openxmlformats.org/officeDocument/2006/customXml" ds:itemID="{342D3C2F-55A5-48C0-9D5A-95C7FF0389D0}">
  <ds:schemaRefs/>
</ds:datastoreItem>
</file>

<file path=customXml/itemProps3.xml><?xml version="1.0" encoding="utf-8"?>
<ds:datastoreItem xmlns:ds="http://schemas.openxmlformats.org/officeDocument/2006/customXml" ds:itemID="{3791575F-4C21-47C4-8D13-EB9BE66B536F}">
  <ds:schemaRefs/>
</ds:datastoreItem>
</file>

<file path=docProps/app.xml><?xml version="1.0" encoding="utf-8"?>
<Properties xmlns="http://schemas.openxmlformats.org/officeDocument/2006/extended-properties" xmlns:vt="http://schemas.openxmlformats.org/officeDocument/2006/docPropsVTypes">
  <Template>Tech design</Template>
  <TotalTime>1</TotalTime>
  <Words>990</Words>
  <Application>Microsoft Office PowerPoint</Application>
  <PresentationFormat>Widescreen</PresentationFormat>
  <Paragraphs>118</Paragraphs>
  <Slides>18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Arial Unicode MS</vt:lpstr>
      <vt:lpstr>Bahnschrift SemiBold SemiCondensed</vt:lpstr>
      <vt:lpstr>Calibri</vt:lpstr>
      <vt:lpstr>Courier New</vt:lpstr>
      <vt:lpstr>Gill Sans MT</vt:lpstr>
      <vt:lpstr>Times New Roman</vt:lpstr>
      <vt:lpstr>Wingdings</vt:lpstr>
      <vt:lpstr>Wingdings 2</vt:lpstr>
      <vt:lpstr>Custom</vt:lpstr>
      <vt:lpstr>          Hand gesture mouse controller</vt:lpstr>
      <vt:lpstr>CONTENTS</vt:lpstr>
      <vt:lpstr> Abstract</vt:lpstr>
      <vt:lpstr>Introduction</vt:lpstr>
      <vt:lpstr>OVERVIEW</vt:lpstr>
      <vt:lpstr>BASE PAPER</vt:lpstr>
      <vt:lpstr>PROBLEM DEFENITION</vt:lpstr>
      <vt:lpstr>PROPOSED  ARCHITECTURE</vt:lpstr>
      <vt:lpstr>FLOW CHART</vt:lpstr>
      <vt:lpstr>PHASE-WISE IMPLEMENTATION</vt:lpstr>
      <vt:lpstr>PHASE-WISE IMPLEMENTATION</vt:lpstr>
      <vt:lpstr>GESTURE-BASED MOUSE FUNCTIONS</vt:lpstr>
      <vt:lpstr>GESTURE-BASED MOUSE FUNCTIONS</vt:lpstr>
      <vt:lpstr>GESTURE-BASED MOUSE FUNCTIONS</vt:lpstr>
      <vt:lpstr>GESTURE-BASED MOUSE FUNCTIONS</vt:lpstr>
      <vt:lpstr>PowerPoint Presentation</vt:lpstr>
      <vt:lpstr>CONCLUTION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sowbarnika shobi</dc:creator>
  <cp:lastModifiedBy>sowbarnika shobi</cp:lastModifiedBy>
  <cp:revision>6</cp:revision>
  <dcterms:created xsi:type="dcterms:W3CDTF">2025-04-24T18:28:00Z</dcterms:created>
  <dcterms:modified xsi:type="dcterms:W3CDTF">2025-04-25T04:50:09Z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7AA554D860F34D0C9503108232B1EC0A_12</vt:lpwstr>
  </property>
  <property fmtid="{D5CDD505-2E9C-101B-9397-08002B2CF9AE}" pid="4" name="KSOProductBuildVer">
    <vt:lpwstr>1033-12.2.0.20795</vt:lpwstr>
  </property>
</Properties>
</file>